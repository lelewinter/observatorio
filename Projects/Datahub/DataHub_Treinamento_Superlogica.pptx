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0"/>
            <a:ext cx="4572000" cy="5143500"/>
          </a:xfrm>
          <a:prstGeom prst="rect">
            <a:avLst/>
          </a:prstGeom>
          <a:solidFill>
            <a:srgbClr val="152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0"/>
            <a:ext cx="109728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74920" y="274320"/>
            <a:ext cx="1463040" cy="1463040"/>
          </a:xfrm>
          <a:prstGeom prst="ellipse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4920" y="475488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09AFF"/>
                </a:solidFill>
                <a:latin typeface="Calibri"/>
              </a:rPr>
              <a:t>DH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Data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609AFF"/>
                </a:solidFill>
                <a:latin typeface="Calibri"/>
              </a:rPr>
              <a:t>Superlogica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21408"/>
            <a:ext cx="4572000" cy="32004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4028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D5FF"/>
                </a:solidFill>
                <a:latin typeface="Calibri"/>
              </a:rPr>
              <a:t>Treinamento da Plataforma de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BBA"/>
                </a:solidFill>
                <a:latin typeface="Calibri"/>
              </a:rPr>
              <a:t>Para quem usa, solicita e governa dados na empresa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DBC"/>
                </a:solidFill>
                <a:latin typeface="Calibri"/>
              </a:rPr>
              <a:t>Time de Data &amp; Analytics  |  Superlogica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146304"/>
            <a:ext cx="795528" cy="246888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18288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7548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8253A"/>
                </a:solidFill>
                <a:latin typeface="Calibri"/>
              </a:rPr>
              <a:t>O que veremos hoje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261872"/>
            <a:ext cx="42976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261872"/>
            <a:ext cx="621792" cy="9144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51790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5331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53A"/>
                </a:solidFill>
                <a:latin typeface="Calibri"/>
              </a:rPr>
              <a:t>O que e o DataHub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556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E"/>
                </a:solidFill>
                <a:latin typeface="Calibri"/>
              </a:rPr>
              <a:t>Visao geral da plataforma e seus modulos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36592" y="1261872"/>
            <a:ext cx="42976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36592" y="1261872"/>
            <a:ext cx="621792" cy="914400"/>
          </a:xfrm>
          <a:prstGeom prst="rect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51790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35331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53A"/>
                </a:solidFill>
                <a:latin typeface="Calibri"/>
              </a:rPr>
              <a:t>Arquitetura de 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7556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E"/>
                </a:solidFill>
                <a:latin typeface="Calibri"/>
              </a:rPr>
              <a:t>Bronze &gt; Silver &gt; Context &gt; Gold &gt; Diamond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2331720"/>
            <a:ext cx="42976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2331720"/>
            <a:ext cx="621792" cy="914400"/>
          </a:xfrm>
          <a:prstGeom prst="rect">
            <a:avLst/>
          </a:prstGeom>
          <a:solidFill>
            <a:srgbClr val="0D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2587752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4231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53A"/>
                </a:solidFill>
                <a:latin typeface="Calibri"/>
              </a:rPr>
              <a:t>Catalogo &amp; Dadinho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82549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E"/>
                </a:solidFill>
                <a:latin typeface="Calibri"/>
              </a:rPr>
              <a:t>Busca de tabelas e chatbot de dados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36592" y="2331720"/>
            <a:ext cx="42976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36592" y="2331720"/>
            <a:ext cx="621792" cy="914400"/>
          </a:xfrm>
          <a:prstGeom prst="rect">
            <a:avLst/>
          </a:prstGeom>
          <a:solidFill>
            <a:srgbClr val="79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2587752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4231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53A"/>
                </a:solidFill>
                <a:latin typeface="Calibri"/>
              </a:rPr>
              <a:t>Spokes e Acessos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82549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E"/>
                </a:solidFill>
                <a:latin typeface="Calibri"/>
              </a:rPr>
              <a:t>Como acessar dados e entender a governanca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3401568"/>
            <a:ext cx="42976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3401568"/>
            <a:ext cx="62179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365760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49300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53A"/>
                </a:solidFill>
                <a:latin typeface="Calibri"/>
              </a:rPr>
              <a:t>Como pedir demandas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89534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E"/>
                </a:solidFill>
                <a:latin typeface="Calibri"/>
              </a:rPr>
              <a:t>Canal, tipos e priorizacao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36592" y="3401568"/>
            <a:ext cx="42976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36592" y="3401568"/>
            <a:ext cx="621792" cy="914400"/>
          </a:xfrm>
          <a:prstGeom prst="rect">
            <a:avLst/>
          </a:prstGeom>
          <a:solidFill>
            <a:srgbClr val="E94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3168" y="365760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349300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253A"/>
                </a:solidFill>
                <a:latin typeface="Calibri"/>
              </a:rPr>
              <a:t>Suporte &amp; Qualidade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389534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E"/>
                </a:solidFill>
                <a:latin typeface="Calibri"/>
              </a:rPr>
              <a:t>Onde abrir chamados e monitoramento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146304"/>
            <a:ext cx="1229868" cy="246888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182880"/>
            <a:ext cx="11201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VISAO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7548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e o Data Hub?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515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Portal central que reune todas as ferramentas do time de dados em um so lugar.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572768"/>
            <a:ext cx="2011680" cy="292608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572768"/>
            <a:ext cx="2011680" cy="4572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5727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Base de Conhecimento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7922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A"/>
                </a:solidFill>
                <a:latin typeface="Calibri"/>
              </a:rPr>
              <a:t>Status Page, Dadinho,
Catalogo de Dados
e Suporte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2304" y="1572768"/>
            <a:ext cx="2011680" cy="292608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32304" y="1572768"/>
            <a:ext cx="2011680" cy="457200"/>
          </a:xfrm>
          <a:prstGeom prst="rect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32304" y="15727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ACESSO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103120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Gestao de Acessos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651760"/>
            <a:ext cx="17922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A"/>
                </a:solidFill>
                <a:latin typeface="Calibri"/>
              </a:rPr>
              <a:t>Spokes, Solicitacoes
de Acesso e
Politicas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8576" y="1572768"/>
            <a:ext cx="2011680" cy="292608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08576" y="1572768"/>
            <a:ext cx="2011680" cy="457200"/>
          </a:xfrm>
          <a:prstGeom prst="rect">
            <a:avLst/>
          </a:prstGeom>
          <a:solidFill>
            <a:srgbClr val="79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6" y="15727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4" y="2103120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BI /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2651760"/>
            <a:ext cx="17922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A"/>
                </a:solidFill>
                <a:latin typeface="Calibri"/>
              </a:rPr>
              <a:t>Dashboards analiticos
integrados ao
BigQuery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1572768"/>
            <a:ext cx="2011680" cy="292608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84848" y="1572768"/>
            <a:ext cx="20116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15727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ADM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2103120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2651760"/>
            <a:ext cx="17922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A"/>
                </a:solidFill>
                <a:latin typeface="Calibri"/>
              </a:rPr>
              <a:t>Configuracoes e
gestao da
plataforma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4645152"/>
            <a:ext cx="8631936" cy="347472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46908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9AFF"/>
                </a:solidFill>
                <a:latin typeface="Calibri"/>
              </a:rPr>
              <a:t>Acesse em:  dados.superlogica.tech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146304"/>
            <a:ext cx="1229868" cy="246888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182880"/>
            <a:ext cx="11201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7548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8253A"/>
                </a:solidFill>
                <a:latin typeface="Calibri"/>
              </a:rPr>
              <a:t>Arquitetura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2412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  <a:latin typeface="Calibri"/>
              </a:rPr>
              <a:t>Como os dados percorrem a plataforma e ganham significado a cada etapa.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81328"/>
            <a:ext cx="160020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81328"/>
            <a:ext cx="1600200" cy="420624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1975104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8253A"/>
                </a:solidFill>
                <a:latin typeface="Calibri"/>
              </a:rPr>
              <a:t>Entrada bruta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2423160"/>
            <a:ext cx="145389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556E"/>
                </a:solidFill>
                <a:latin typeface="Calibri"/>
              </a:rPr>
              <a:t>Copia fiel do banco transacional.
Sem transformacao.
Auditoria e recuperacao.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2" y="2834640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65EE8"/>
                </a:solidFill>
                <a:latin typeface="Calibri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1481328"/>
            <a:ext cx="160020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65960" y="1481328"/>
            <a:ext cx="1600200" cy="420624"/>
          </a:xfrm>
          <a:prstGeom prst="rect">
            <a:avLst/>
          </a:prstGeom>
          <a:solidFill>
            <a:srgbClr val="71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79" y="150876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9112" y="1975104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8253A"/>
                </a:solidFill>
                <a:latin typeface="Calibri"/>
              </a:rPr>
              <a:t>Dado preparado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9112" y="2423160"/>
            <a:ext cx="145389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556E"/>
                </a:solidFill>
                <a:latin typeface="Calibri"/>
              </a:rPr>
              <a:t>Limpeza tecnica, tipagem,
remocao de duplicatas
e padronizacao basica.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1" y="2834640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65EE8"/>
                </a:solidFill>
                <a:latin typeface="Calibri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1481328"/>
            <a:ext cx="160020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03320" y="1481328"/>
            <a:ext cx="1600200" cy="420624"/>
          </a:xfrm>
          <a:prstGeom prst="rect">
            <a:avLst/>
          </a:prstGeom>
          <a:solidFill>
            <a:srgbClr val="0D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150876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1975104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8253A"/>
                </a:solidFill>
                <a:latin typeface="Calibri"/>
              </a:rPr>
              <a:t>Modelo de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2423160"/>
            <a:ext cx="145389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556E"/>
                </a:solidFill>
                <a:latin typeface="Calibri"/>
              </a:rPr>
              <a:t>Fatos e dimensoes.
Semantica do dominio.
Base para analises.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2834640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65EE8"/>
                </a:solidFill>
                <a:latin typeface="Calibri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40679" y="1481328"/>
            <a:ext cx="160020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40679" y="1481328"/>
            <a:ext cx="1600200" cy="4206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399" y="150876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3831" y="1975104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8253A"/>
                </a:solidFill>
                <a:latin typeface="Calibri"/>
              </a:rPr>
              <a:t>Indicadores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13831" y="2423160"/>
            <a:ext cx="145389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556E"/>
                </a:solidFill>
                <a:latin typeface="Calibri"/>
              </a:rPr>
              <a:t>KPIs e metricas
agregadas por tema.
Alimenta dashboards.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2834640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65EE8"/>
                </a:solidFill>
                <a:latin typeface="Calibri"/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8040" y="1481328"/>
            <a:ext cx="160020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78040" y="1481328"/>
            <a:ext cx="1600200" cy="420624"/>
          </a:xfrm>
          <a:prstGeom prst="rect">
            <a:avLst/>
          </a:prstGeom>
          <a:solidFill>
            <a:srgbClr val="79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150876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DIAMOND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1192" y="1975104"/>
            <a:ext cx="1453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8253A"/>
                </a:solidFill>
                <a:latin typeface="Calibri"/>
              </a:rPr>
              <a:t>Visao estrategica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1192" y="2423160"/>
            <a:ext cx="145389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556E"/>
                </a:solidFill>
                <a:latin typeface="Calibri"/>
              </a:rPr>
              <a:t>Cruzamento de temas.
Produtos de alto valor.
Featuras para ML.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E4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6E"/>
                </a:solidFill>
                <a:latin typeface="Calibri"/>
              </a:rPr>
              <a:t>Regra: o fluxo sempre segue Bronze &gt; Silver &gt; Context &gt; Gold &gt; Diamond. Cada camada so enxerga a anterior.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146304"/>
            <a:ext cx="2011679" cy="246888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182880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BASE DE CONHECIMENTO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7548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Catalogo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2412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Fonte da verdade para definicoes de tabelas, metricas, dashboards e dominios.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554480"/>
            <a:ext cx="3749039" cy="333756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554480"/>
            <a:ext cx="54864" cy="333756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91640"/>
            <a:ext cx="3429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Como usar o Catalogo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Use a busca para encontrar tabelas por regra de negocio, nome ou tema.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Filtre por 'Tabelas que tenho acesso' para ver apenas o disponivel.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Clique em uma tabela para ver documentacao, colunas e linhagem.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A aba Metricas traz as definicoes oficiais de KPIs da empresa.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Atualizacao automatica via Dataform — sempre sincronizado.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4617720" cy="59436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54864" cy="59436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093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TABELAS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19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A"/>
                </a:solidFill>
                <a:latin typeface="Calibri"/>
              </a:rPr>
              <a:t>BigQuery documentadas via Dataform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212848"/>
            <a:ext cx="4617720" cy="59436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212848"/>
            <a:ext cx="54864" cy="594360"/>
          </a:xfrm>
          <a:prstGeom prst="rect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267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DASHBOARDS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53288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A"/>
                </a:solidFill>
                <a:latin typeface="Calibri"/>
              </a:rPr>
              <a:t>Paineis analiticos da empresa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871215"/>
            <a:ext cx="4617720" cy="59436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2871215"/>
            <a:ext cx="54864" cy="594360"/>
          </a:xfrm>
          <a:prstGeom prst="rect">
            <a:avLst/>
          </a:prstGeom>
          <a:solidFill>
            <a:srgbClr val="0D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9260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DOMINIOS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91256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A"/>
                </a:solidFill>
                <a:latin typeface="Calibri"/>
              </a:rPr>
              <a:t>Agrupamentos tematicos de dados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529584"/>
            <a:ext cx="4617720" cy="59436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529584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584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METRICAS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849624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A"/>
                </a:solidFill>
                <a:latin typeface="Calibri"/>
              </a:rPr>
              <a:t>Definicoes oficiais de KPIs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187952"/>
            <a:ext cx="4617720" cy="59436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187952"/>
            <a:ext cx="54864" cy="594360"/>
          </a:xfrm>
          <a:prstGeom prst="rect">
            <a:avLst/>
          </a:prstGeom>
          <a:solidFill>
            <a:srgbClr val="79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2428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AGENTES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50799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A"/>
                </a:solidFill>
                <a:latin typeface="Calibri"/>
              </a:rPr>
              <a:t>Agentes de automacao de dados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146304"/>
            <a:ext cx="2011679" cy="246888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182880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BASE DE CONHECIMENTO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7548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53A"/>
                </a:solidFill>
                <a:latin typeface="Calibri"/>
              </a:rPr>
              <a:t>Dadinho  —  Assistente Virtual de Dados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234440"/>
            <a:ext cx="4114800" cy="3611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234440"/>
            <a:ext cx="4114800" cy="54864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1371600"/>
            <a:ext cx="658368" cy="658368"/>
          </a:xfrm>
          <a:prstGeom prst="ellipse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70355"/>
            <a:ext cx="658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176272"/>
            <a:ext cx="3822191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8253A"/>
                </a:solidFill>
                <a:latin typeface="Calibri"/>
              </a:rPr>
              <a:t>O que e o Dadinho?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44556E"/>
                </a:solidFill>
                <a:latin typeface="Calibri"/>
              </a:rPr>
              <a:t>Chatbot com IA que responde duvidas sobre dados, metricas e documentacao usando a base de conhecimento do Data Hub.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18253A"/>
                </a:solidFill>
                <a:latin typeface="Calibri"/>
              </a:rPr>
              <a:t>Quando usar: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4556E"/>
                </a:solidFill>
                <a:latin typeface="Calibri"/>
              </a:rPr>
              <a:t>  Antes de abrir um chamado no Jira, consulte o Dadinho para triagem rapida.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18253A"/>
                </a:solidFill>
                <a:latin typeface="Calibri"/>
              </a:rPr>
              <a:t>Como acessar: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65EE8"/>
                </a:solidFill>
                <a:latin typeface="Calibri"/>
              </a:rPr>
              <a:t>  dados.superlogica.tech/chatbot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234440"/>
            <a:ext cx="4206240" cy="3611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1234440"/>
            <a:ext cx="4206240" cy="54864"/>
          </a:xfrm>
          <a:prstGeom prst="rect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92040" y="1371600"/>
            <a:ext cx="658368" cy="658368"/>
          </a:xfrm>
          <a:prstGeom prst="ellipse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470355"/>
            <a:ext cx="658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176272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8253A"/>
                </a:solidFill>
                <a:latin typeface="Calibri"/>
              </a:rPr>
              <a:t>Exemplos de perguntas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265EE8"/>
                </a:solidFill>
                <a:latin typeface="Calibri"/>
              </a:rPr>
              <a:t>"O que e a tabela context_clientes?"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265EE8"/>
                </a:solidFill>
                <a:latin typeface="Calibri"/>
              </a:rPr>
              <a:t>"Como e calculada a taxa de churn?"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265EE8"/>
                </a:solidFill>
                <a:latin typeface="Calibri"/>
              </a:rPr>
              <a:t>"Quais metricas existem para retencao?"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265EE8"/>
                </a:solidFill>
                <a:latin typeface="Calibri"/>
              </a:rPr>
              <a:t>"Como solicito acesso a uma tabela?"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265EE8"/>
                </a:solidFill>
                <a:latin typeface="Calibri"/>
              </a:rPr>
              <a:t>"Qual a diferenca entre Gold e Diamond?"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146304"/>
            <a:ext cx="1751076" cy="246888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182880"/>
            <a:ext cx="16413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GESTAO DE ACESSOS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7548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Spokes: Dominios da Empresa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2412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Spokes organizam pessoas, grupos e acesso a dados por dominio de negocio.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481328"/>
            <a:ext cx="4572000" cy="64008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481328"/>
            <a:ext cx="54864" cy="64008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910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5EE8"/>
                </a:solidFill>
                <a:latin typeface="Calibri"/>
              </a:rPr>
              <a:t>SPOKE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0934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A"/>
                </a:solidFill>
                <a:latin typeface="Calibri"/>
              </a:rPr>
              <a:t>Dominio macro  (ex: Marketing, Financeiro)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2258568"/>
            <a:ext cx="4457700" cy="64008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" y="2258568"/>
            <a:ext cx="54864" cy="640080"/>
          </a:xfrm>
          <a:prstGeom prst="rect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682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949A"/>
                </a:solidFill>
                <a:latin typeface="Calibri"/>
              </a:rPr>
              <a:t>GRUPO RAIZ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386584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A"/>
                </a:solidFill>
                <a:latin typeface="Calibri"/>
              </a:rPr>
              <a:t>Organiza a estrutura do dominio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035808"/>
            <a:ext cx="4343400" cy="64008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035808"/>
            <a:ext cx="54864" cy="640080"/>
          </a:xfrm>
          <a:prstGeom prst="rect">
            <a:avLst/>
          </a:prstGeom>
          <a:solidFill>
            <a:srgbClr val="0D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455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AF7A"/>
                </a:solidFill>
                <a:latin typeface="Calibri"/>
              </a:rPr>
              <a:t>SUBGRUPOS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16382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A"/>
                </a:solidFill>
                <a:latin typeface="Calibri"/>
              </a:rPr>
              <a:t>Equipes reais de trabalho — unidade fundamental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" y="3813048"/>
            <a:ext cx="4229100" cy="64008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1832" y="3813048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9227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MEMBROS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941063"/>
            <a:ext cx="24917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A"/>
                </a:solidFill>
                <a:latin typeface="Calibri"/>
              </a:rPr>
              <a:t>Pessoas dentro dos subgrupos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1481328"/>
            <a:ext cx="3703320" cy="312724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2080" y="1481328"/>
            <a:ext cx="3703320" cy="54864"/>
          </a:xfrm>
          <a:prstGeom prst="rect">
            <a:avLst/>
          </a:prstGeom>
          <a:solidFill>
            <a:srgbClr val="79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1600200"/>
            <a:ext cx="340156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Modelo de Acesso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Acesso concedido por SUBGRUPO, nao por pessoa.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Toda solicitacao ocorre no nivel do subgrupo.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Uma pessoa pode estar em multiplos subgrupos.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O acesso aos dados e herdado do subgrupo.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Cada tabela define quais subgrupos podem acessa-la.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146304"/>
            <a:ext cx="1751076" cy="246888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182880"/>
            <a:ext cx="16413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GESTAO DE ACESSOS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7548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8253A"/>
                </a:solidFill>
                <a:latin typeface="Calibri"/>
              </a:rPr>
              <a:t>Os 11 Spokes da Superlogica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2412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  <a:latin typeface="Calibri"/>
              </a:rPr>
              <a:t>Cada Spoke representa um dominio de negocio, com lider e estrutura de grupos propria.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21214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73152" cy="1078992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554480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253A"/>
                </a:solidFill>
                <a:latin typeface="Calibri"/>
              </a:rPr>
              <a:t>BU Adm Condo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993392"/>
            <a:ext cx="18470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E"/>
                </a:solidFill>
                <a:latin typeface="Calibri"/>
              </a:rPr>
              <a:t>Caio Mendes Burti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59736" y="1463040"/>
            <a:ext cx="21214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59736" y="1463040"/>
            <a:ext cx="73152" cy="1078992"/>
          </a:xfrm>
          <a:prstGeom prst="rect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8" y="1554480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253A"/>
                </a:solidFill>
                <a:latin typeface="Calibri"/>
              </a:rPr>
              <a:t>BU Imobi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993392"/>
            <a:ext cx="18470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E"/>
                </a:solidFill>
                <a:latin typeface="Calibri"/>
              </a:rPr>
              <a:t>Manoel Goncalves de Oliveira Neto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90872" y="1463040"/>
            <a:ext cx="21214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90872" y="1463040"/>
            <a:ext cx="73152" cy="1078992"/>
          </a:xfrm>
          <a:prstGeom prst="rect">
            <a:avLst/>
          </a:prstGeom>
          <a:solidFill>
            <a:srgbClr val="0D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1554480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253A"/>
                </a:solidFill>
                <a:latin typeface="Calibri"/>
              </a:rPr>
              <a:t>Eng. e Produto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1993392"/>
            <a:ext cx="18470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E"/>
                </a:solidFill>
                <a:latin typeface="Calibri"/>
              </a:rPr>
              <a:t>Luis Fernando Cera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22008" y="1463040"/>
            <a:ext cx="21214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22008" y="1463040"/>
            <a:ext cx="73152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1554480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253A"/>
                </a:solidFill>
                <a:latin typeface="Calibri"/>
              </a:rPr>
              <a:t>Financeiro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993392"/>
            <a:ext cx="18470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E"/>
                </a:solidFill>
                <a:latin typeface="Calibri"/>
              </a:rPr>
              <a:t>Marcos Vinicius do Nascimento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651760"/>
            <a:ext cx="21214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2651760"/>
            <a:ext cx="73152" cy="1078992"/>
          </a:xfrm>
          <a:prstGeom prst="rect">
            <a:avLst/>
          </a:prstGeom>
          <a:solidFill>
            <a:srgbClr val="79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2743200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253A"/>
                </a:solidFill>
                <a:latin typeface="Calibri"/>
              </a:rPr>
              <a:t>Gente e Gestao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" y="3182112"/>
            <a:ext cx="18470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E"/>
                </a:solidFill>
                <a:latin typeface="Calibri"/>
              </a:rPr>
              <a:t>Dina Ribeiro de Carvalho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59736" y="2651760"/>
            <a:ext cx="21214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59736" y="2651760"/>
            <a:ext cx="73152" cy="1078992"/>
          </a:xfrm>
          <a:prstGeom prst="rect">
            <a:avLst/>
          </a:prstGeom>
          <a:solidFill>
            <a:srgbClr val="E94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4328" y="2743200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253A"/>
                </a:solidFill>
                <a:latin typeface="Calibri"/>
              </a:rPr>
              <a:t>Marketing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4328" y="3182112"/>
            <a:ext cx="18470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E"/>
                </a:solidFill>
                <a:latin typeface="Calibri"/>
              </a:rPr>
              <a:t>Talita E. Caseli Zampieri Barros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90872" y="2651760"/>
            <a:ext cx="21214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90872" y="2651760"/>
            <a:ext cx="73152" cy="1078992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55464" y="2743200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253A"/>
                </a:solidFill>
                <a:latin typeface="Calibri"/>
              </a:rPr>
              <a:t>Operacoes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5464" y="3182112"/>
            <a:ext cx="18470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E"/>
                </a:solidFill>
                <a:latin typeface="Calibri"/>
              </a:rPr>
              <a:t>Rogerio F. de Carvalho e Silva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22008" y="2651760"/>
            <a:ext cx="21214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22008" y="2651760"/>
            <a:ext cx="73152" cy="1078992"/>
          </a:xfrm>
          <a:prstGeom prst="rect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600" y="2743200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253A"/>
                </a:solidFill>
                <a:latin typeface="Calibri"/>
              </a:rPr>
              <a:t>Presidencia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3182112"/>
            <a:ext cx="18470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E"/>
                </a:solidFill>
                <a:latin typeface="Calibri"/>
              </a:rPr>
              <a:t>Carlos Henrique Cera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840480"/>
            <a:ext cx="21214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8600" y="3840480"/>
            <a:ext cx="73152" cy="1078992"/>
          </a:xfrm>
          <a:prstGeom prst="rect">
            <a:avLst/>
          </a:prstGeom>
          <a:solidFill>
            <a:srgbClr val="0D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3931920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253A"/>
                </a:solidFill>
                <a:latin typeface="Calibri"/>
              </a:rPr>
              <a:t>Produtos Banking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" y="4370832"/>
            <a:ext cx="18470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E"/>
                </a:solidFill>
                <a:latin typeface="Calibri"/>
              </a:rPr>
              <a:t>Andre Kenji Alves Hirata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59736" y="3840480"/>
            <a:ext cx="21214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459736" y="3840480"/>
            <a:ext cx="73152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24328" y="3931920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253A"/>
                </a:solidFill>
                <a:latin typeface="Calibri"/>
              </a:rPr>
              <a:t>Produtos Credito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24328" y="4370832"/>
            <a:ext cx="18470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E"/>
                </a:solidFill>
                <a:latin typeface="Calibri"/>
              </a:rPr>
              <a:t>Joao Paulo M. Terra Baroni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3840480"/>
            <a:ext cx="21214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690872" y="3840480"/>
            <a:ext cx="73152" cy="1078992"/>
          </a:xfrm>
          <a:prstGeom prst="rect">
            <a:avLst/>
          </a:prstGeom>
          <a:solidFill>
            <a:srgbClr val="79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55464" y="3931920"/>
            <a:ext cx="18470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253A"/>
                </a:solidFill>
                <a:latin typeface="Calibri"/>
              </a:rPr>
              <a:t>Produtos Moradia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55464" y="4370832"/>
            <a:ext cx="18470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E"/>
                </a:solidFill>
                <a:latin typeface="Calibri"/>
              </a:rPr>
              <a:t>Omar Ferroni Branquinho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4727448"/>
            <a:ext cx="8686800" cy="292608"/>
          </a:xfrm>
          <a:prstGeom prst="rect">
            <a:avLst/>
          </a:prstGeom>
          <a:solidFill>
            <a:srgbClr val="E4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76402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6E"/>
                </a:solidFill>
                <a:latin typeface="Calibri"/>
              </a:rPr>
              <a:t>Total: 11 Spokes  |  Acesse em: dados.superlogica.tech/spokes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146304"/>
            <a:ext cx="1751076" cy="246888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182880"/>
            <a:ext cx="16413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GESTAO DE ACESSOS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7548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Como Solicitar Acesso a Dados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298448"/>
            <a:ext cx="2029968" cy="301752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298448"/>
            <a:ext cx="2029968" cy="54864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5256" y="1417320"/>
            <a:ext cx="731520" cy="731520"/>
          </a:xfrm>
          <a:prstGeom prst="ellipse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48132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2240280"/>
            <a:ext cx="18836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Acesse
o Data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2898648"/>
            <a:ext cx="1883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9BBA"/>
                </a:solidFill>
                <a:latin typeface="Calibri"/>
              </a:rPr>
              <a:t>Va em Minhas
Solicitacoes de Acesso
no menu lateral.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26060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9AFF"/>
                </a:solidFill>
                <a:latin typeface="Calibri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0591" y="1298448"/>
            <a:ext cx="2029968" cy="301752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50591" y="1298448"/>
            <a:ext cx="2029968" cy="54864"/>
          </a:xfrm>
          <a:prstGeom prst="rect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9815" y="1417320"/>
            <a:ext cx="731520" cy="731520"/>
          </a:xfrm>
          <a:prstGeom prst="ellipse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9815" y="148132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3744" y="2240280"/>
            <a:ext cx="18836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Clique em
+ Solicitar Tabela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2898648"/>
            <a:ext cx="1883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9BBA"/>
                </a:solidFill>
                <a:latin typeface="Calibri"/>
              </a:rPr>
              <a:t>Informe qual tabela
você precisa
e o motivo.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6060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9AFF"/>
                </a:solidFill>
                <a:latin typeface="Calibri"/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1298448"/>
            <a:ext cx="2029968" cy="301752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1298448"/>
            <a:ext cx="2029968" cy="54864"/>
          </a:xfrm>
          <a:prstGeom prst="rect">
            <a:avLst/>
          </a:prstGeom>
          <a:solidFill>
            <a:srgbClr val="79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94376" y="1417320"/>
            <a:ext cx="731520" cy="731520"/>
          </a:xfrm>
          <a:prstGeom prst="ellipse">
            <a:avLst/>
          </a:prstGeom>
          <a:solidFill>
            <a:srgbClr val="79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94376" y="148132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2240280"/>
            <a:ext cx="18836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Aguarde
analise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2898648"/>
            <a:ext cx="1883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9BBA"/>
                </a:solidFill>
                <a:latin typeface="Calibri"/>
              </a:rPr>
              <a:t>O Approver responsavel
recebe notificacao
e avalia.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2" y="26060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9AFF"/>
                </a:solidFill>
                <a:latin typeface="Calibri"/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39712" y="1298448"/>
            <a:ext cx="2029968" cy="301752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39712" y="1298448"/>
            <a:ext cx="2029968" cy="54864"/>
          </a:xfrm>
          <a:prstGeom prst="rect">
            <a:avLst/>
          </a:prstGeom>
          <a:solidFill>
            <a:srgbClr val="0D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88936" y="1417320"/>
            <a:ext cx="731520" cy="731520"/>
          </a:xfrm>
          <a:prstGeom prst="ellipse">
            <a:avLst/>
          </a:prstGeom>
          <a:solidFill>
            <a:srgbClr val="0D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8936" y="148132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2864" y="2240280"/>
            <a:ext cx="18836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Acesso
concedido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2898648"/>
            <a:ext cx="1883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9BBA"/>
                </a:solidFill>
                <a:latin typeface="Calibri"/>
              </a:rPr>
              <a:t>BigQuery libera
o dado para
o seu usuario.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4462272"/>
            <a:ext cx="8631936" cy="530352"/>
          </a:xfrm>
          <a:prstGeom prst="rect">
            <a:avLst/>
          </a:prstGeom>
          <a:solidFill>
            <a:srgbClr val="2A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" y="4462272"/>
            <a:ext cx="54864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535424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ATENCAO:  Acesso a dados NAO e aberto via Jira. Somente pelo Data Hub — secao Solicitacoes de Acesso.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146304"/>
            <a:ext cx="1143000" cy="246888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182880"/>
            <a:ext cx="103327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GOVERNANCA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7548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8253A"/>
                </a:solidFill>
                <a:latin typeface="Calibri"/>
              </a:rPr>
              <a:t>Papeis na Governanca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2412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  <a:latin typeface="Calibri"/>
              </a:rPr>
              <a:t>Principio do minimo privilegio: cada pessoa recebe apenas o acesso necessario para o trabalho.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481328"/>
            <a:ext cx="2816352" cy="3401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481328"/>
            <a:ext cx="2816352" cy="50292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3192" y="15453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602943"/>
            <a:ext cx="384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5EE8"/>
                </a:solidFill>
                <a:latin typeface="Calibr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581912"/>
            <a:ext cx="20482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Data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103120"/>
            <a:ext cx="24871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44556E"/>
                </a:solidFill>
                <a:latin typeface="Calibri"/>
              </a:rPr>
              <a:t>  Responsavel final pelo conjunto de dados.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4556E"/>
                </a:solidFill>
                <a:latin typeface="Calibri"/>
              </a:rPr>
              <a:t>  Define quem pode acessar e para que.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4556E"/>
                </a:solidFill>
                <a:latin typeface="Calibri"/>
              </a:rPr>
              <a:t>  Garante alinhamento com LGPD.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4556E"/>
                </a:solidFill>
                <a:latin typeface="Calibri"/>
              </a:rPr>
              <a:t>  Pode delegar aprovacoes.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4556E"/>
                </a:solidFill>
                <a:latin typeface="Calibri"/>
              </a:rPr>
              <a:t>  Define politica de retencao e expurgo.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481328"/>
            <a:ext cx="2816352" cy="3401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481328"/>
            <a:ext cx="2816352" cy="502920"/>
          </a:xfrm>
          <a:prstGeom prst="rect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37560" y="15453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602943"/>
            <a:ext cx="384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1949A"/>
                </a:solidFill>
                <a:latin typeface="Calibri"/>
              </a:rPr>
              <a:t>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1581912"/>
            <a:ext cx="20482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Approver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103120"/>
            <a:ext cx="24871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44556E"/>
                </a:solidFill>
                <a:latin typeface="Calibri"/>
              </a:rPr>
              <a:t>  Delegado pelo Data Owner por tabela.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4556E"/>
                </a:solidFill>
                <a:latin typeface="Calibri"/>
              </a:rPr>
              <a:t>  Avalia e aprova/rejeita solicitacoes.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4556E"/>
                </a:solidFill>
                <a:latin typeface="Calibri"/>
              </a:rPr>
              <a:t>  Garante proporcionalidade do acesso.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4556E"/>
                </a:solidFill>
                <a:latin typeface="Calibri"/>
              </a:rPr>
              <a:t>  Age no modulo Politicas de Acesso.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4556E"/>
                </a:solidFill>
                <a:latin typeface="Calibri"/>
              </a:rPr>
              <a:t>  Pode ser mais de um por tabela.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481328"/>
            <a:ext cx="2816352" cy="3401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481328"/>
            <a:ext cx="2816352" cy="502920"/>
          </a:xfrm>
          <a:prstGeom prst="rect">
            <a:avLst/>
          </a:prstGeom>
          <a:solidFill>
            <a:srgbClr val="79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81928" y="15453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1602943"/>
            <a:ext cx="384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93AED"/>
                </a:solidFill>
                <a:latin typeface="Calibri"/>
              </a:rPr>
              <a:t>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581912"/>
            <a:ext cx="20482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Data Steward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103120"/>
            <a:ext cx="24871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44556E"/>
                </a:solidFill>
                <a:latin typeface="Calibri"/>
              </a:rPr>
              <a:t>  Guardiao da qualidade e consistencia.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4556E"/>
                </a:solidFill>
                <a:latin typeface="Calibri"/>
              </a:rPr>
              <a:t>  Mantém documentacao e nomenclaturas.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4556E"/>
                </a:solidFill>
                <a:latin typeface="Calibri"/>
              </a:rPr>
              <a:t>  Apoia resolucao de duvidas sobre dados.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4556E"/>
                </a:solidFill>
                <a:latin typeface="Calibri"/>
              </a:rPr>
              <a:t>  Monitora qualidade e alertas.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4556E"/>
                </a:solidFill>
                <a:latin typeface="Calibri"/>
              </a:rPr>
              <a:t>  Suporta o Data Owner nas politicas.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146304"/>
            <a:ext cx="969264" cy="246888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182880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7548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Como Pedir Demandas ao Time de Dados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261872"/>
            <a:ext cx="2029968" cy="294436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261872"/>
            <a:ext cx="2029968" cy="475488"/>
          </a:xfrm>
          <a:prstGeom prst="rect">
            <a:avLst/>
          </a:prstGeom>
          <a:solidFill>
            <a:srgbClr val="E94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132588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383487"/>
            <a:ext cx="384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94445"/>
                </a:solidFill>
                <a:latin typeface="Calibri"/>
              </a:rPr>
              <a:t>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28800"/>
            <a:ext cx="18470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Incidentes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423160"/>
            <a:ext cx="184708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9BBA"/>
                </a:solidFill>
                <a:latin typeface="Calibri"/>
              </a:rPr>
              <a:t>Erros, falhas,
dados desatualizados
em producao.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3913632"/>
            <a:ext cx="1664208" cy="274320"/>
          </a:xfrm>
          <a:prstGeom prst="rect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3931920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Jira Service Desk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2304" y="1261872"/>
            <a:ext cx="2029968" cy="294436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2304" y="1261872"/>
            <a:ext cx="202996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8104" y="132588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18104" y="1383487"/>
            <a:ext cx="384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1828800"/>
            <a:ext cx="18470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Projetos &amp;
Melhorias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3744" y="2423160"/>
            <a:ext cx="184708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9BBA"/>
                </a:solidFill>
                <a:latin typeface="Calibri"/>
              </a:rPr>
              <a:t>Novos dashboards,
metricas, melhorias
em existentes.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15184" y="3913632"/>
            <a:ext cx="1664208" cy="274320"/>
          </a:xfrm>
          <a:prstGeom prst="rect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15184" y="3931920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Jira Service Desk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8576" y="1261872"/>
            <a:ext cx="2029968" cy="294436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08576" y="1261872"/>
            <a:ext cx="2029968" cy="475488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94376" y="132588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1383487"/>
            <a:ext cx="384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65EE8"/>
                </a:solidFill>
                <a:latin typeface="Calibri"/>
              </a:rPr>
              <a:t>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828800"/>
            <a:ext cx="18470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Duvidas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0016" y="2423160"/>
            <a:ext cx="184708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9BBA"/>
                </a:solidFill>
                <a:latin typeface="Calibri"/>
              </a:rPr>
              <a:t>Significado de dados,
origem de metricas,
processos.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91456" y="3913632"/>
            <a:ext cx="1664208" cy="274320"/>
          </a:xfrm>
          <a:prstGeom prst="rect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6" y="3931920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Jira Service Desk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4848" y="1261872"/>
            <a:ext cx="2029968" cy="294436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84848" y="1261872"/>
            <a:ext cx="2029968" cy="475488"/>
          </a:xfrm>
          <a:prstGeom prst="rect">
            <a:avLst/>
          </a:prstGeom>
          <a:solidFill>
            <a:srgbClr val="0D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70648" y="132588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0648" y="1383487"/>
            <a:ext cx="384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AF7A"/>
                </a:solidFill>
                <a:latin typeface="Calibri"/>
              </a:rPr>
              <a:t>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1828800"/>
            <a:ext cx="18470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Acesso a Dados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2423160"/>
            <a:ext cx="184708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9BBA"/>
                </a:solidFill>
                <a:latin typeface="Calibri"/>
              </a:rPr>
              <a:t>Acesso a tabelas
ou datasets
no BigQuery.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67728" y="3913632"/>
            <a:ext cx="1664208" cy="27432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3931920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 Hub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4343400"/>
            <a:ext cx="8631936" cy="65836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6032" y="4343400"/>
            <a:ext cx="54864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389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Template minimo: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66344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A"/>
                </a:solidFill>
                <a:latin typeface="Calibri"/>
              </a:rPr>
              <a:t>Objetivo  |  Contexto (area, produto, prazo)  |  Tipo de entrega  |  Tabela/metrica afetada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146304"/>
            <a:ext cx="969264" cy="246888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182880"/>
            <a:ext cx="859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7548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8253A"/>
                </a:solidFill>
                <a:latin typeface="Calibri"/>
              </a:rPr>
              <a:t>Como o Time Prioriza Demandas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2412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  <a:latin typeface="Calibri"/>
              </a:rPr>
              <a:t>4 filas independentes, revisadas semanalmente. Cada tipo tem criterios proprios.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481328"/>
            <a:ext cx="2029968" cy="3401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481328"/>
            <a:ext cx="2029968" cy="475488"/>
          </a:xfrm>
          <a:prstGeom prst="rect">
            <a:avLst/>
          </a:prstGeom>
          <a:solidFill>
            <a:srgbClr val="E94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5361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93799"/>
            <a:ext cx="384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94445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048256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8253A"/>
                </a:solidFill>
                <a:latin typeface="Calibri"/>
              </a:rPr>
              <a:t>Incidentes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578608"/>
            <a:ext cx="184708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44556E"/>
                </a:solidFill>
                <a:latin typeface="Calibri"/>
              </a:rPr>
              <a:t>Prioridade pelo IMPACTO:
Muito Alto, Alto, Medio, Baixo.
Incidentes criticos interrompem o planning.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2304" y="1481328"/>
            <a:ext cx="2029968" cy="3401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2304" y="1481328"/>
            <a:ext cx="202996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18104" y="15361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8104" y="1593799"/>
            <a:ext cx="384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3744" y="2048256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8253A"/>
                </a:solidFill>
                <a:latin typeface="Calibri"/>
              </a:rPr>
              <a:t>Ingestoes de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2578608"/>
            <a:ext cx="184708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44556E"/>
                </a:solidFill>
                <a:latin typeface="Calibri"/>
              </a:rPr>
              <a:t>Prioridade x Complexidade:
Alta prioridade + baixa complexidade
executado primeiro.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08576" y="1481328"/>
            <a:ext cx="2029968" cy="3401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08576" y="1481328"/>
            <a:ext cx="2029968" cy="475488"/>
          </a:xfrm>
          <a:prstGeom prst="rect">
            <a:avLst/>
          </a:prstGeom>
          <a:solidFill>
            <a:srgbClr val="79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94376" y="15361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94376" y="1593799"/>
            <a:ext cx="384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93AED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16" y="2048256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8253A"/>
                </a:solidFill>
                <a:latin typeface="Calibri"/>
              </a:rPr>
              <a:t>Proj. Estruturantes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2578608"/>
            <a:ext cx="184708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44556E"/>
                </a:solidFill>
                <a:latin typeface="Calibri"/>
              </a:rPr>
              <a:t>Melhoria de plataforma
e eficiencia do time.
Reduz incidentes futuros.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84848" y="1481328"/>
            <a:ext cx="2029968" cy="3401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84848" y="1481328"/>
            <a:ext cx="2029968" cy="475488"/>
          </a:xfrm>
          <a:prstGeom prst="rect">
            <a:avLst/>
          </a:prstGeom>
          <a:solidFill>
            <a:srgbClr val="0D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70648" y="15361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1593799"/>
            <a:ext cx="384048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AF7A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2048256"/>
            <a:ext cx="1847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8253A"/>
                </a:solidFill>
                <a:latin typeface="Calibri"/>
              </a:rPr>
              <a:t>Projetos &amp; Melhorias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2578608"/>
            <a:ext cx="184708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44556E"/>
                </a:solidFill>
                <a:latin typeface="Calibri"/>
              </a:rPr>
              <a:t>ROI esperado, impacto
em receita e valor
estrategico para o negocio.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146304"/>
            <a:ext cx="1143000" cy="246888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182880"/>
            <a:ext cx="103327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GOVERNANCA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7548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Nomenclatura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2412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Padroes obrigatorios para garantir consistencia e clareza na plataforma.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481328"/>
            <a:ext cx="4023360" cy="340156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481328"/>
            <a:ext cx="54864" cy="3401568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9344"/>
            <a:ext cx="3694176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Regras Gerais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Portugues (pt-br), minusculas, sem acentos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Snake_case: palavras separadas por _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Sem abreviacoes ou apelidos de projetos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Prefixos: data_, valor_, quantidade_, taxa_, percentual_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PROIBIDO: st_, dt_, vl_, cd_ (prefixos de tipo)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PK: id_&lt;entidade&gt;   |   FK: &lt;entidade&gt;_id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Metricas Gold/Diamond: nomes amigaveis para BI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481328"/>
            <a:ext cx="4270248" cy="3401568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481328"/>
            <a:ext cx="54864" cy="3401568"/>
          </a:xfrm>
          <a:prstGeom prst="rect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1609344"/>
            <a:ext cx="3913632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Prefixos por Tipo de Tabela (Context)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1949A"/>
                </a:solidFill>
                <a:latin typeface="Calibri"/>
              </a:rPr>
              <a:t>dim_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 Cadastro ou atributos relativamente estaveis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1949A"/>
                </a:solidFill>
                <a:latin typeface="Calibri"/>
              </a:rPr>
              <a:t>fact_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 Eventos ou estados com dimensao temporal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1949A"/>
                </a:solidFill>
                <a:latin typeface="Calibri"/>
              </a:rPr>
              <a:t>map_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 Tabelas de de/para reutilizaveis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1949A"/>
                </a:solidFill>
                <a:latin typeface="Calibri"/>
              </a:rPr>
              <a:t>bridge_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8A9BBA"/>
                </a:solidFill>
                <a:latin typeface="Calibri"/>
              </a:rPr>
              <a:t>   Relacoes N:N reais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609AFF"/>
                </a:solidFill>
                <a:latin typeface="Calibri"/>
              </a:rPr>
              <a:t>CTEs padrao: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8A9BBA"/>
                </a:solidFill>
                <a:latin typeface="Calibri"/>
              </a:rPr>
              <a:t>source &gt; typed &gt; cleaned &gt; deduplicated &gt; enriched &gt; flagged &gt; final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146304"/>
            <a:ext cx="1924812" cy="246888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182880"/>
            <a:ext cx="18150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QUALIDADE &amp; SUPORTE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7548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8253A"/>
                </a:solidFill>
                <a:latin typeface="Calibri"/>
              </a:rPr>
              <a:t>Qualidade de Dados e Suporte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234440"/>
            <a:ext cx="4297680" cy="3611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234440"/>
            <a:ext cx="4297680" cy="54864"/>
          </a:xfrm>
          <a:prstGeom prst="rect">
            <a:avLst/>
          </a:prstGeom>
          <a:solidFill>
            <a:srgbClr val="0D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1353312"/>
            <a:ext cx="530352" cy="530352"/>
          </a:xfrm>
          <a:prstGeom prst="ellipse">
            <a:avLst/>
          </a:prstGeom>
          <a:solidFill>
            <a:srgbClr val="0D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32864"/>
            <a:ext cx="530352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011680"/>
            <a:ext cx="3977639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8253A"/>
                </a:solidFill>
                <a:latin typeface="Calibri"/>
              </a:rPr>
              <a:t>Monitoramento de Qualidade</a:t>
            </a:r>
          </a:p>
          <a:p>
            <a:pPr algn="l">
              <a:spcBef>
                <a:spcPts val="900"/>
              </a:spcBef>
            </a:pPr>
            <a:r>
              <a:rPr sz="1300" b="1">
                <a:solidFill>
                  <a:srgbClr val="18253A"/>
                </a:solidFill>
                <a:latin typeface="Calibri"/>
              </a:rPr>
              <a:t>Contratos de qualidade (YAML)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44556E"/>
                </a:solidFill>
                <a:latin typeface="Calibri"/>
              </a:rPr>
              <a:t>  Regras explicitas: duplicatas, nulos, dominio, cross-checks, volumetria.</a:t>
            </a:r>
          </a:p>
          <a:p>
            <a:pPr algn="l">
              <a:spcBef>
                <a:spcPts val="900"/>
              </a:spcBef>
            </a:pPr>
            <a:r>
              <a:rPr sz="1300" b="1">
                <a:solidFill>
                  <a:srgbClr val="18253A"/>
                </a:solidFill>
                <a:latin typeface="Calibri"/>
              </a:rPr>
              <a:t>Metric Monitors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44556E"/>
                </a:solidFill>
                <a:latin typeface="Calibri"/>
              </a:rPr>
              <a:t>  Deteccao automatica de anomalias por historico: row count, freshness, variacao.</a:t>
            </a:r>
          </a:p>
          <a:p>
            <a:pPr algn="l">
              <a:spcBef>
                <a:spcPts val="900"/>
              </a:spcBef>
            </a:pPr>
            <a:r>
              <a:rPr sz="1300" b="1">
                <a:solidFill>
                  <a:srgbClr val="18253A"/>
                </a:solidFill>
                <a:latin typeface="Calibri"/>
              </a:rPr>
              <a:t>Status Page no Data Hub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44556E"/>
                </a:solidFill>
                <a:latin typeface="Calibri"/>
              </a:rPr>
              <a:t>  Exibe tabelas atualizadas, fila e incidentes ativos em tempo real.</a:t>
            </a:r>
          </a:p>
          <a:p>
            <a:pPr algn="l">
              <a:spcBef>
                <a:spcPts val="900"/>
              </a:spcBef>
            </a:pPr>
            <a:r>
              <a:rPr sz="1300" b="1">
                <a:solidFill>
                  <a:srgbClr val="18253A"/>
                </a:solidFill>
                <a:latin typeface="Calibri"/>
              </a:rPr>
              <a:t>Politica de mudancas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44556E"/>
                </a:solidFill>
                <a:latin typeface="Calibri"/>
              </a:rPr>
              <a:t>  Mudancas destrutivas comunicadas com 1 semana de antecedencia minima.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28032" y="1234440"/>
            <a:ext cx="4059936" cy="3611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28032" y="1234440"/>
            <a:ext cx="4059936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47488" y="135331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1432864"/>
            <a:ext cx="530352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2011680"/>
            <a:ext cx="3730752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8253A"/>
                </a:solidFill>
                <a:latin typeface="Calibri"/>
              </a:rPr>
              <a:t>Suporte via Jira Service Desk</a:t>
            </a:r>
          </a:p>
          <a:p>
            <a:pPr algn="l">
              <a:spcBef>
                <a:spcPts val="900"/>
              </a:spcBef>
            </a:pPr>
            <a:r>
              <a:rPr sz="1300" b="1">
                <a:solidFill>
                  <a:srgbClr val="18253A"/>
                </a:solidFill>
                <a:latin typeface="Calibri"/>
              </a:rPr>
              <a:t>Reportar problema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44556E"/>
                </a:solidFill>
                <a:latin typeface="Calibri"/>
              </a:rPr>
              <a:t>  Erros, falhas, dados desatualizados, bugs em dashboards.</a:t>
            </a:r>
          </a:p>
          <a:p>
            <a:pPr algn="l">
              <a:spcBef>
                <a:spcPts val="900"/>
              </a:spcBef>
            </a:pPr>
            <a:r>
              <a:rPr sz="1300" b="1">
                <a:solidFill>
                  <a:srgbClr val="18253A"/>
                </a:solidFill>
                <a:latin typeface="Calibri"/>
              </a:rPr>
              <a:t>Solicitar melhoria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44556E"/>
                </a:solidFill>
                <a:latin typeface="Calibri"/>
              </a:rPr>
              <a:t>  Novas funcionalidades ou ajustes em existentes.</a:t>
            </a:r>
          </a:p>
          <a:p>
            <a:pPr algn="l">
              <a:spcBef>
                <a:spcPts val="900"/>
              </a:spcBef>
            </a:pPr>
            <a:r>
              <a:rPr sz="1300" b="1">
                <a:solidFill>
                  <a:srgbClr val="18253A"/>
                </a:solidFill>
                <a:latin typeface="Calibri"/>
              </a:rPr>
              <a:t>Solicitar dados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44556E"/>
                </a:solidFill>
                <a:latin typeface="Calibri"/>
              </a:rPr>
              <a:t>  Novas ingestoes, construcao de tabelas ou metricas.</a:t>
            </a:r>
          </a:p>
          <a:p>
            <a:pPr algn="l">
              <a:spcBef>
                <a:spcPts val="900"/>
              </a:spcBef>
            </a:pPr>
            <a:r>
              <a:rPr sz="1300" b="1">
                <a:solidFill>
                  <a:srgbClr val="18253A"/>
                </a:solidFill>
                <a:latin typeface="Calibri"/>
              </a:rPr>
              <a:t>Duvida geral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44556E"/>
                </a:solidFill>
                <a:latin typeface="Calibri"/>
              </a:rPr>
              <a:t>  Perguntas sobre plataforma, processos ou definicoes.</a:t>
            </a:r>
          </a:p>
          <a:p>
            <a:pPr algn="l">
              <a:spcBef>
                <a:spcPts val="1200"/>
              </a:spcBef>
            </a:pPr>
            <a:r>
              <a:rPr sz="1100" b="0">
                <a:solidFill>
                  <a:srgbClr val="265EE8"/>
                </a:solidFill>
                <a:latin typeface="Calibri"/>
              </a:rPr>
              <a:t>Portal: superlogica.atlassian.net/servicedesk/customer/portal/40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347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9AFF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Sua jornada no Data 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481328"/>
            <a:ext cx="4206240" cy="82296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481328"/>
            <a:ext cx="54864" cy="822960"/>
          </a:xfrm>
          <a:prstGeom prst="rect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0624" y="1618488"/>
            <a:ext cx="530352" cy="530352"/>
          </a:xfrm>
          <a:prstGeom prst="ellipse">
            <a:avLst/>
          </a:prstGeom>
          <a:solidFill>
            <a:srgbClr val="26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698040"/>
            <a:ext cx="530352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361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Catalogo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0195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9BBA"/>
                </a:solidFill>
                <a:latin typeface="Calibri"/>
              </a:rPr>
              <a:t>Busque tabelas, metricas e dashboards documentados.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0872" y="1481328"/>
            <a:ext cx="4206240" cy="82296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90872" y="1481328"/>
            <a:ext cx="54864" cy="822960"/>
          </a:xfrm>
          <a:prstGeom prst="rect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55464" y="1618488"/>
            <a:ext cx="530352" cy="530352"/>
          </a:xfrm>
          <a:prstGeom prst="ellipse">
            <a:avLst/>
          </a:prstGeom>
          <a:solidFill>
            <a:srgbClr val="01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5464" y="1698040"/>
            <a:ext cx="530352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5361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Dadinho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90195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9BBA"/>
                </a:solidFill>
                <a:latin typeface="Calibri"/>
              </a:rPr>
              <a:t>Tire duvidas rapidas sobre dados sem abrir chamado.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441448"/>
            <a:ext cx="4206240" cy="82296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2441448"/>
            <a:ext cx="54864" cy="822960"/>
          </a:xfrm>
          <a:prstGeom prst="rect">
            <a:avLst/>
          </a:prstGeom>
          <a:solidFill>
            <a:srgbClr val="0D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" y="2578608"/>
            <a:ext cx="530352" cy="530352"/>
          </a:xfrm>
          <a:prstGeom prst="ellipse">
            <a:avLst/>
          </a:prstGeom>
          <a:solidFill>
            <a:srgbClr val="0D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2658160"/>
            <a:ext cx="530352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496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Acesso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86207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9BBA"/>
                </a:solidFill>
                <a:latin typeface="Calibri"/>
              </a:rPr>
              <a:t>Solicite via Data Hub, nao via Jira.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90872" y="2441448"/>
            <a:ext cx="4206240" cy="82296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90872" y="2441448"/>
            <a:ext cx="54864" cy="822960"/>
          </a:xfrm>
          <a:prstGeom prst="rect">
            <a:avLst/>
          </a:prstGeom>
          <a:solidFill>
            <a:srgbClr val="79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5464" y="2578608"/>
            <a:ext cx="530352" cy="530352"/>
          </a:xfrm>
          <a:prstGeom prst="ellipse">
            <a:avLst/>
          </a:prstGeom>
          <a:solidFill>
            <a:srgbClr val="79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55464" y="2658160"/>
            <a:ext cx="530352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2496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Spokes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286207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9BBA"/>
                </a:solidFill>
                <a:latin typeface="Calibri"/>
              </a:rPr>
              <a:t>Entenda seu dominio e peca entrada no subgrupo certo.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3401568"/>
            <a:ext cx="4206240" cy="82296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3401568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20624" y="353872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3618280"/>
            <a:ext cx="530352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3456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Demandas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82219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9BBA"/>
                </a:solidFill>
                <a:latin typeface="Calibri"/>
              </a:rPr>
              <a:t>Use o template e abra pelo Jira Service Desk.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3401568"/>
            <a:ext cx="4206240" cy="82296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90872" y="3401568"/>
            <a:ext cx="54864" cy="822960"/>
          </a:xfrm>
          <a:prstGeom prst="rect">
            <a:avLst/>
          </a:prstGeom>
          <a:solidFill>
            <a:srgbClr val="E94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55464" y="3538728"/>
            <a:ext cx="530352" cy="530352"/>
          </a:xfrm>
          <a:prstGeom prst="ellipse">
            <a:avLst/>
          </a:prstGeom>
          <a:solidFill>
            <a:srgbClr val="E94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55464" y="3618280"/>
            <a:ext cx="530352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456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Qualidade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382219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9BBA"/>
                </a:solidFill>
                <a:latin typeface="Calibri"/>
              </a:rPr>
              <a:t>Monitore via Status Page; reporte incidentes cedo.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DBC"/>
                </a:solidFill>
                <a:latin typeface="Calibri"/>
              </a:rPr>
              <a:t>dados.superlogica.tech   |   Time de Data &amp; Analytics   | 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